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70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72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6" userDrawn="1">
          <p15:clr>
            <a:srgbClr val="747775"/>
          </p15:clr>
        </p15:guide>
        <p15:guide id="2" pos="204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146"/>
        <p:guide pos="2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5843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8b7fa320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8" name="Google Shape;58;g3f8b7fa320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8b7fa32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8" name="Google Shape;68;g3f8b7fa32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8b7fa320d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f8b7fa320d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8b7fa320d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4" name="Google Shape;84;g3f8b7fa320d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same story for revenue. Higher discounts leads to less revenue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8b7fa320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2" name="Google Shape;92;g3f8b7fa320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8b7fa32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0" name="Google Shape;100;g3f8b7fa32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8b7fa320d_13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3" name="Google Shape;123;g3f8b7fa320d_13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D8C5F-40A6-80E0-26A7-19BECB914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77C07-F99E-8AC6-6FF2-E36540196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6AE74-D9DD-975E-E1B3-0FC58A358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05949-EEE4-4A61-8E6E-50814A8ADBF4}" type="datetime2">
              <a:rPr lang="en-IN" smtClean="0"/>
              <a:t>Sunday, 20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D4EA8-9C25-A0CF-2774-7364C85AC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F0B9B-B64F-5626-0296-1C28FEAE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55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873A92-48FF-DAA1-1037-6EAD424D5FFE}"/>
              </a:ext>
            </a:extLst>
          </p:cNvPr>
          <p:cNvSpPr txBox="1"/>
          <p:nvPr/>
        </p:nvSpPr>
        <p:spPr>
          <a:xfrm>
            <a:off x="0" y="1472733"/>
            <a:ext cx="6098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Magist - Eniac Analysis</a:t>
            </a:r>
            <a:endParaRPr lang="en-IN"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691A8-CD41-0A34-CC3C-2CB354CA27AA}"/>
              </a:ext>
            </a:extLst>
          </p:cNvPr>
          <p:cNvSpPr txBox="1"/>
          <p:nvPr/>
        </p:nvSpPr>
        <p:spPr>
          <a:xfrm>
            <a:off x="0" y="2304008"/>
            <a:ext cx="6098875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en-IN" sz="3200" b="1" dirty="0">
                <a:latin typeface="Calibri (Body)"/>
              </a:rPr>
              <a:t>Sales - Discounting Strategy</a:t>
            </a:r>
            <a:endParaRPr lang="en-IN" sz="2800" b="1" dirty="0">
              <a:latin typeface="Calibri (Body)"/>
            </a:endParaRPr>
          </a:p>
          <a:p>
            <a:pPr marL="0" marR="0" indent="0" algn="ctr">
              <a:buNone/>
            </a:pPr>
            <a:endParaRPr lang="en-IN" sz="2800" b="1" dirty="0">
              <a:latin typeface="Calibri (Body)"/>
            </a:endParaRPr>
          </a:p>
          <a:p>
            <a:pPr marL="0" marR="0" indent="0" algn="ctr">
              <a:buNone/>
            </a:pPr>
            <a:endParaRPr lang="en-IN" sz="2800" b="1" dirty="0">
              <a:latin typeface="Calibri (Body)"/>
            </a:endParaRPr>
          </a:p>
          <a:p>
            <a:pPr marL="0" marR="0" indent="0" algn="ctr">
              <a:buNone/>
            </a:pPr>
            <a:endParaRPr lang="en-IN" sz="2800" b="1" dirty="0">
              <a:latin typeface="Calibri (Body)"/>
            </a:endParaRPr>
          </a:p>
          <a:p>
            <a:pPr marL="0" marR="0" indent="0" algn="ctr">
              <a:buNone/>
            </a:pPr>
            <a:endParaRPr lang="en-IN" sz="2800" b="1" dirty="0">
              <a:latin typeface="Calibri (Body)"/>
            </a:endParaRPr>
          </a:p>
          <a:p>
            <a:pPr marL="0" marR="0" indent="0" algn="ctr">
              <a:buNone/>
            </a:pPr>
            <a:r>
              <a:rPr lang="en-IN" sz="1400" b="1" dirty="0">
                <a:latin typeface="Calibri (Body)"/>
              </a:rPr>
              <a:t>Published by: Pavana Kumari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70374F-C1E5-AC71-C1C6-21A34C740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940" y="112146"/>
            <a:ext cx="3364302" cy="489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777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65343-5733-C202-4E0F-2579C769F36A}"/>
              </a:ext>
            </a:extLst>
          </p:cNvPr>
          <p:cNvSpPr txBox="1"/>
          <p:nvPr/>
        </p:nvSpPr>
        <p:spPr>
          <a:xfrm>
            <a:off x="323850" y="219456"/>
            <a:ext cx="8554974" cy="3534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Business Problem:</a:t>
            </a:r>
          </a:p>
          <a:p>
            <a:pPr algn="just"/>
            <a:endParaRPr lang="en-US" sz="1800" b="1" dirty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/>
              <a:t>How many products are being discounted?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/>
              <a:t>How </a:t>
            </a:r>
            <a:r>
              <a:rPr lang="en-US" sz="1800" dirty="0"/>
              <a:t>large are the offered discounts as a percentage of product</a:t>
            </a:r>
            <a:r>
              <a:rPr lang="en-IN" sz="1800" dirty="0"/>
              <a:t> prices?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/>
              <a:t>How do seasonality and special dates (Christmas, Black Friday) affect sales?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/>
              <a:t>How should products be classified into different categories to simplify reports and analysis?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/>
              <a:t>What is the distribution of product prices across different categories?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/>
              <a:t>How could data collection be improved?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37540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23850" y="231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Our recommendation:</a:t>
            </a:r>
            <a:endParaRPr sz="2000" b="1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2385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Eniac should continue discounting products with a more disciplined strategy than it uses today: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" dirty="0"/>
              <a:t>Cap discounts at a maximum of 20%. 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" dirty="0"/>
              <a:t>Rebalance discounts toward high-end products and away from budget items.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" dirty="0"/>
              <a:t>Plan campaigns around the calendar.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23850" y="93757"/>
            <a:ext cx="88201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IN" sz="2000" b="1" dirty="0"/>
              <a:t>How many products are being discounted?</a:t>
            </a:r>
            <a:endParaRPr sz="2000" b="1" dirty="0"/>
          </a:p>
        </p:txBody>
      </p:sp>
      <p:sp>
        <p:nvSpPr>
          <p:cNvPr id="71" name="Google Shape;71;p15"/>
          <p:cNvSpPr txBox="1"/>
          <p:nvPr/>
        </p:nvSpPr>
        <p:spPr>
          <a:xfrm>
            <a:off x="5330953" y="713232"/>
            <a:ext cx="3575304" cy="430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• </a:t>
            </a:r>
            <a:r>
              <a:rPr lang="en" b="1" dirty="0">
                <a:solidFill>
                  <a:schemeClr val="dk2"/>
                </a:solidFill>
              </a:rPr>
              <a:t>92.9% of products are discounted</a:t>
            </a:r>
            <a:endParaRPr b="1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• </a:t>
            </a:r>
            <a:r>
              <a:rPr lang="en" b="1" dirty="0">
                <a:solidFill>
                  <a:schemeClr val="dk2"/>
                </a:solidFill>
              </a:rPr>
              <a:t>7.1% are non-discounted</a:t>
            </a:r>
          </a:p>
          <a:p>
            <a:pPr marL="85725" lvl="0" indent="-8572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dk2"/>
                </a:solidFill>
              </a:rPr>
              <a:t> Most of the catalogue is sold at full price; only a minority of SKUs are ever discounted</a:t>
            </a:r>
            <a:endParaRPr b="1" dirty="0">
              <a:solidFill>
                <a:schemeClr val="dk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0A92F-7617-4CC8-39D6-88B8AADAC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15" y="713232"/>
            <a:ext cx="4854009" cy="4031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23851" y="85133"/>
            <a:ext cx="88201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IN" sz="2000" b="1" dirty="0"/>
              <a:t>How big are the discounts?</a:t>
            </a:r>
            <a:endParaRPr sz="2000" b="1" dirty="0"/>
          </a:p>
        </p:txBody>
      </p:sp>
      <p:sp>
        <p:nvSpPr>
          <p:cNvPr id="5" name="Google Shape;71;p15">
            <a:extLst>
              <a:ext uri="{FF2B5EF4-FFF2-40B4-BE49-F238E27FC236}">
                <a16:creationId xmlns:a16="http://schemas.microsoft.com/office/drawing/2014/main" id="{1D126C5B-5845-91B4-249E-E32017563A3D}"/>
              </a:ext>
            </a:extLst>
          </p:cNvPr>
          <p:cNvSpPr txBox="1"/>
          <p:nvPr/>
        </p:nvSpPr>
        <p:spPr>
          <a:xfrm>
            <a:off x="323851" y="4175189"/>
            <a:ext cx="8820150" cy="890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dk2"/>
                </a:solidFill>
              </a:rPr>
              <a:t>Discount sizes cluster around 17.5% of the price, with a long tail of steeper markdowns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dk2"/>
                </a:solidFill>
              </a:rPr>
              <a:t>Most discounts are modest — small promotional nudges rather than deep clearance pricing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dk2"/>
                </a:solidFill>
              </a:rPr>
              <a:t>Outliers worth flagging separately if they're clearance/liquidation items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C40305-7207-D0C1-25BB-2E44D275C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569344"/>
            <a:ext cx="8561357" cy="36156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23850" y="86264"/>
            <a:ext cx="88201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IN" sz="2000" b="1" dirty="0"/>
              <a:t>Seasonality and special dates</a:t>
            </a:r>
            <a:endParaRPr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5E8586-7DBF-9C58-3C62-53571B8EA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658965"/>
            <a:ext cx="8496300" cy="3404078"/>
          </a:xfrm>
          <a:prstGeom prst="rect">
            <a:avLst/>
          </a:prstGeom>
        </p:spPr>
      </p:pic>
      <p:sp>
        <p:nvSpPr>
          <p:cNvPr id="5" name="Google Shape;71;p15">
            <a:extLst>
              <a:ext uri="{FF2B5EF4-FFF2-40B4-BE49-F238E27FC236}">
                <a16:creationId xmlns:a16="http://schemas.microsoft.com/office/drawing/2014/main" id="{0FD7DE0F-8DD3-906F-171F-286A4199652E}"/>
              </a:ext>
            </a:extLst>
          </p:cNvPr>
          <p:cNvSpPr txBox="1"/>
          <p:nvPr/>
        </p:nvSpPr>
        <p:spPr>
          <a:xfrm>
            <a:off x="323851" y="4175189"/>
            <a:ext cx="8820150" cy="890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dk2"/>
                </a:solidFill>
              </a:rPr>
              <a:t>Revenue peaks visibly around November (Black Friday) and December (Christmas)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b="1" dirty="0">
              <a:solidFill>
                <a:schemeClr val="dk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dk2"/>
                </a:solidFill>
              </a:rPr>
              <a:t>Business implication: inventory and staffing should be planned around these two months specifically, not spread evenly across the year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258792" y="101975"/>
            <a:ext cx="88852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IN" sz="2000" b="1" dirty="0"/>
              <a:t>Product categorization</a:t>
            </a:r>
            <a:endParaRPr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CDE23A-345D-4DA9-FF6E-B7B4DC063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543477"/>
            <a:ext cx="6378875" cy="4498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0756FC-07B1-2D4B-FB11-0D6CAD15D0F0}"/>
              </a:ext>
            </a:extLst>
          </p:cNvPr>
          <p:cNvSpPr txBox="1"/>
          <p:nvPr/>
        </p:nvSpPr>
        <p:spPr>
          <a:xfrm>
            <a:off x="6702725" y="1251687"/>
            <a:ext cx="241935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lvl="0" indent="-180975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dk2"/>
                </a:solidFill>
              </a:rPr>
              <a:t>Top categories by product count are case_cover, other electronics, storage, and charger_cable. </a:t>
            </a:r>
          </a:p>
          <a:p>
            <a:pPr marL="180975" lvl="0" indent="-180975">
              <a:buFont typeface="Arial" panose="020B0604020202020204" pitchFamily="34" charset="0"/>
              <a:buChar char="•"/>
            </a:pPr>
            <a:endParaRPr lang="en-IN" sz="1200" b="1" dirty="0">
              <a:solidFill>
                <a:schemeClr val="dk2"/>
              </a:solidFill>
            </a:endParaRPr>
          </a:p>
          <a:p>
            <a:pPr marL="180975" lvl="0" indent="-180975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dk2"/>
                </a:solidFill>
              </a:rPr>
              <a:t>Trade-off to mention: multi-category products are assigned only to their first matched tag — a modelling simplification worth flagging to stakeholders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250166" y="86264"/>
            <a:ext cx="889383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IN" sz="2000" b="1" dirty="0"/>
              <a:t>Price distribution by category</a:t>
            </a:r>
            <a:endParaRPr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D1BF62-05B3-CD51-DB24-94213E4E7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586597"/>
            <a:ext cx="8354324" cy="3588592"/>
          </a:xfrm>
          <a:prstGeom prst="rect">
            <a:avLst/>
          </a:prstGeom>
        </p:spPr>
      </p:pic>
      <p:sp>
        <p:nvSpPr>
          <p:cNvPr id="5" name="Google Shape;71;p15">
            <a:extLst>
              <a:ext uri="{FF2B5EF4-FFF2-40B4-BE49-F238E27FC236}">
                <a16:creationId xmlns:a16="http://schemas.microsoft.com/office/drawing/2014/main" id="{094F3970-1F3B-8AE2-6017-495215ADC665}"/>
              </a:ext>
            </a:extLst>
          </p:cNvPr>
          <p:cNvSpPr txBox="1"/>
          <p:nvPr/>
        </p:nvSpPr>
        <p:spPr>
          <a:xfrm>
            <a:off x="323851" y="4175189"/>
            <a:ext cx="8820150" cy="890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dk2"/>
                </a:solidFill>
              </a:rPr>
              <a:t>Price ranges vary enormously by category — from accessories at a few euros to smartphones/laptops in the hundreds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b="1" dirty="0">
              <a:solidFill>
                <a:schemeClr val="dk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dk2"/>
                </a:solidFill>
              </a:rPr>
              <a:t>Useful for pricing strategy and category-level margin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50" y="591124"/>
            <a:ext cx="8582406" cy="413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237744" y="86683"/>
            <a:ext cx="890625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000" b="1" dirty="0"/>
              <a:t>Data collection improvements</a:t>
            </a:r>
            <a:endParaRPr sz="2000" b="1" dirty="0">
              <a:solidFill>
                <a:srgbClr val="0B2E3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73C6B77-5E27-6F89-D801-3F9E02199DC9}"/>
              </a:ext>
            </a:extLst>
          </p:cNvPr>
          <p:cNvSpPr txBox="1"/>
          <p:nvPr/>
        </p:nvSpPr>
        <p:spPr>
          <a:xfrm>
            <a:off x="565785" y="286703"/>
            <a:ext cx="8006715" cy="4022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/>
              <a:t>Recommendation:</a:t>
            </a:r>
            <a:endParaRPr lang="en-IN" sz="4050" b="1" dirty="0">
              <a:latin typeface="Calibri (Body)"/>
            </a:endParaRPr>
          </a:p>
          <a:p>
            <a:pPr lvl="0" fontAlgn="base">
              <a:lnSpc>
                <a:spcPct val="150000"/>
              </a:lnSpc>
            </a:pPr>
            <a:r>
              <a:rPr lang="en-IN" dirty="0"/>
              <a:t>Based on the overview of discounts and performance of different product categories, a discount cap at 20% is recommended.</a:t>
            </a:r>
          </a:p>
          <a:p>
            <a:pPr lvl="0" fontAlgn="base">
              <a:lnSpc>
                <a:spcPct val="150000"/>
              </a:lnSpc>
            </a:pPr>
            <a:endParaRPr lang="en-IN" dirty="0"/>
          </a:p>
          <a:p>
            <a:pPr lvl="0" fontAlgn="base">
              <a:lnSpc>
                <a:spcPct val="150000"/>
              </a:lnSpc>
            </a:pPr>
            <a:r>
              <a:rPr lang="en-IN" dirty="0"/>
              <a:t>Budget items already receive the highest discount yet generate the least revenue; high-end items are barely discounted despite producing half of the revenue.</a:t>
            </a:r>
          </a:p>
          <a:p>
            <a:pPr lvl="0" fontAlgn="base">
              <a:lnSpc>
                <a:spcPct val="150000"/>
              </a:lnSpc>
            </a:pPr>
            <a:endParaRPr lang="en-IN" dirty="0"/>
          </a:p>
          <a:p>
            <a:pPr lvl="0" fontAlgn="base">
              <a:lnSpc>
                <a:spcPct val="150000"/>
              </a:lnSpc>
            </a:pPr>
            <a:r>
              <a:rPr lang="en-IN" dirty="0"/>
              <a:t>Demand varies by calendar, like Black Friday and holidays, so plan campaigns around the calendar.</a:t>
            </a:r>
          </a:p>
          <a:p>
            <a:pPr lvl="0" fontAlgn="base">
              <a:lnSpc>
                <a:spcPct val="150000"/>
              </a:lnSpc>
            </a:pPr>
            <a:endParaRPr lang="en-IN" dirty="0"/>
          </a:p>
          <a:p>
            <a:pPr lvl="0" fontAlgn="base">
              <a:lnSpc>
                <a:spcPct val="150000"/>
              </a:lnSpc>
            </a:pPr>
            <a:endParaRPr lang="en-IN" dirty="0"/>
          </a:p>
          <a:p>
            <a:pPr algn="ctr">
              <a:lnSpc>
                <a:spcPct val="150000"/>
              </a:lnSpc>
            </a:pPr>
            <a:r>
              <a:rPr lang="en-IN" b="1" dirty="0"/>
              <a:t>Eniac’s should go to Discount Strategy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7485092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412</Words>
  <Application>Microsoft Office PowerPoint</Application>
  <PresentationFormat>On-screen Show (16:9)</PresentationFormat>
  <Paragraphs>51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 (Body)</vt:lpstr>
      <vt:lpstr>Simple Light</vt:lpstr>
      <vt:lpstr>PowerPoint Presentation</vt:lpstr>
      <vt:lpstr>PowerPoint Presentation</vt:lpstr>
      <vt:lpstr>Our recommendation:</vt:lpstr>
      <vt:lpstr>How many products are being discounted?</vt:lpstr>
      <vt:lpstr>How big are the discounts?</vt:lpstr>
      <vt:lpstr>Seasonality and special dates</vt:lpstr>
      <vt:lpstr>Product categorization</vt:lpstr>
      <vt:lpstr>Price distribution by category</vt:lpstr>
      <vt:lpstr>Data collection improvements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Janu</dc:creator>
  <cp:lastModifiedBy>Pentakota Pavana Kumari</cp:lastModifiedBy>
  <cp:revision>13</cp:revision>
  <dcterms:modified xsi:type="dcterms:W3CDTF">2026-09-19T23:59:49Z</dcterms:modified>
</cp:coreProperties>
</file>